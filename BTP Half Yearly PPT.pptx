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9" r:id="rId3"/>
    <p:sldId id="260" r:id="rId4"/>
    <p:sldId id="267" r:id="rId5"/>
    <p:sldId id="268" r:id="rId6"/>
    <p:sldId id="261" r:id="rId7"/>
    <p:sldId id="269" r:id="rId8"/>
    <p:sldId id="270" r:id="rId9"/>
    <p:sldId id="271" r:id="rId10"/>
    <p:sldId id="262" r:id="rId11"/>
    <p:sldId id="272" r:id="rId12"/>
    <p:sldId id="263" r:id="rId13"/>
    <p:sldId id="279" r:id="rId14"/>
    <p:sldId id="273" r:id="rId15"/>
    <p:sldId id="278" r:id="rId16"/>
    <p:sldId id="280" r:id="rId17"/>
    <p:sldId id="281" r:id="rId18"/>
    <p:sldId id="274" r:id="rId19"/>
    <p:sldId id="282" r:id="rId20"/>
    <p:sldId id="283" r:id="rId21"/>
    <p:sldId id="265" r:id="rId22"/>
    <p:sldId id="285" r:id="rId23"/>
    <p:sldId id="264" r:id="rId24"/>
    <p:sldId id="275" r:id="rId25"/>
    <p:sldId id="284" r:id="rId26"/>
    <p:sldId id="286" r:id="rId27"/>
    <p:sldId id="276" r:id="rId28"/>
    <p:sldId id="287" r:id="rId29"/>
    <p:sldId id="266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CFF"/>
    <a:srgbClr val="66ADCC"/>
    <a:srgbClr val="47798F"/>
    <a:srgbClr val="DF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80FD9-B0C8-C961-0DEA-0F16CF9B9266}" v="3486" dt="2024-11-28T23:06:33.364"/>
    <p1510:client id="{605DBC6B-97F2-1EFE-C528-D1038EBC2205}" v="474" dt="2024-11-28T23:23:19.387"/>
    <p1510:client id="{DA15BDF3-6790-9F15-35AD-E3C004A69046}" v="32" dt="2024-11-29T03:46:10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21 September 2024, SMS, IIT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fenceprocurementinternational.com/features/maritime/are-unmanned-surface-vehicles-a-paradigm-shift-in-naval-warfar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fense.info/defense-systems/unmanned-surface-vehicles-in-support-of-the-sustainment-mission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anandholly.com/2021/01/indian-fishing-boats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vinvolution.medium.com/dice-loss-in-medical-image-segmentation-d0e476eb486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mannedsystemstechnology.com/expo/autonomous-surface-vehicles-asv/" TargetMode="External"/><Relationship Id="rId2" Type="http://schemas.openxmlformats.org/officeDocument/2006/relationships/hyperlink" Target="https://www.oglemodels.com/case-studies/unmanned-surface-vessel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B7BF91-0D46-8C56-C1CC-EF441E4F8D8A}"/>
              </a:ext>
            </a:extLst>
          </p:cNvPr>
          <p:cNvSpPr txBox="1"/>
          <p:nvPr/>
        </p:nvSpPr>
        <p:spPr>
          <a:xfrm>
            <a:off x="281021" y="990127"/>
            <a:ext cx="604611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dirty="0">
                <a:latin typeface="Amasis MT Pro"/>
                <a:ea typeface="Calibri"/>
                <a:cs typeface="Calibri"/>
              </a:rPr>
              <a:t>Obstacle Detection in USVs</a:t>
            </a:r>
          </a:p>
        </p:txBody>
      </p:sp>
      <p:pic>
        <p:nvPicPr>
          <p:cNvPr id="2" name="Picture 1" descr="https://www.oglemodels.com/case-studies/unmanned-surface-vessel/&#10;">
            <a:extLst>
              <a:ext uri="{FF2B5EF4-FFF2-40B4-BE49-F238E27FC236}">
                <a16:creationId xmlns:a16="http://schemas.microsoft.com/office/drawing/2014/main" id="{92C772BF-0706-BAA9-0FAA-367F8D70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607" y="300065"/>
            <a:ext cx="3778470" cy="2468893"/>
          </a:xfrm>
          <a:prstGeom prst="rect">
            <a:avLst/>
          </a:prstGeom>
        </p:spPr>
      </p:pic>
      <p:pic>
        <p:nvPicPr>
          <p:cNvPr id="3" name="Picture 2" descr="A yellow boat on the water&#10;&#10;Description automatically generated">
            <a:extLst>
              <a:ext uri="{FF2B5EF4-FFF2-40B4-BE49-F238E27FC236}">
                <a16:creationId xmlns:a16="http://schemas.microsoft.com/office/drawing/2014/main" id="{4C01834E-0E2F-FC95-BBD1-3C3F1DCD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091" y="3163615"/>
            <a:ext cx="3673366" cy="2758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26B7D4-A833-CF43-AA57-5466BA34513F}"/>
              </a:ext>
            </a:extLst>
          </p:cNvPr>
          <p:cNvSpPr txBox="1"/>
          <p:nvPr/>
        </p:nvSpPr>
        <p:spPr>
          <a:xfrm>
            <a:off x="322251" y="4051636"/>
            <a:ext cx="596908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masis MT Pro"/>
              </a:rPr>
              <a:t>Kovid Sharma</a:t>
            </a:r>
            <a:endParaRPr lang="en-US">
              <a:latin typeface="Amasis MT Pro"/>
            </a:endParaRPr>
          </a:p>
          <a:p>
            <a:pPr algn="ctr"/>
            <a:r>
              <a:rPr lang="en-US" dirty="0">
                <a:latin typeface="Amasis MT Pro"/>
              </a:rPr>
              <a:t>21ME01026</a:t>
            </a:r>
          </a:p>
          <a:p>
            <a:pPr algn="ctr"/>
            <a:endParaRPr lang="en-US" dirty="0">
              <a:latin typeface="Amasis MT Pro"/>
            </a:endParaRPr>
          </a:p>
          <a:p>
            <a:pPr algn="ctr"/>
            <a:r>
              <a:rPr lang="en-US" dirty="0">
                <a:latin typeface="Amasis MT Pro"/>
              </a:rPr>
              <a:t>Under the Supervision of Dr. Yogesh </a:t>
            </a:r>
            <a:r>
              <a:rPr lang="en-US" err="1">
                <a:latin typeface="Amasis MT Pro"/>
              </a:rPr>
              <a:t>Bhumkar</a:t>
            </a:r>
            <a:r>
              <a:rPr lang="en-US" dirty="0">
                <a:latin typeface="Amasis MT Pro"/>
              </a:rPr>
              <a:t> and Dr. Debi </a:t>
            </a:r>
            <a:r>
              <a:rPr lang="en-US" err="1">
                <a:latin typeface="Amasis MT Pro"/>
              </a:rPr>
              <a:t>Prosad</a:t>
            </a:r>
            <a:r>
              <a:rPr lang="en-US" dirty="0">
                <a:latin typeface="Amasis MT Pro"/>
              </a:rPr>
              <a:t> Dogra</a:t>
            </a:r>
          </a:p>
          <a:p>
            <a:pPr algn="ctr"/>
            <a:endParaRPr lang="en-US" dirty="0">
              <a:latin typeface="Amasis MT Pro"/>
            </a:endParaRPr>
          </a:p>
          <a:p>
            <a:pPr algn="ctr"/>
            <a:r>
              <a:rPr lang="en-US" dirty="0">
                <a:latin typeface="Amasis MT Pro"/>
              </a:rPr>
              <a:t>School of Mechanical Sciences</a:t>
            </a:r>
          </a:p>
          <a:p>
            <a:pPr algn="ctr"/>
            <a:r>
              <a:rPr lang="en-US" dirty="0">
                <a:latin typeface="Amasis MT Pro"/>
              </a:rPr>
              <a:t>Indian Institute of Technology, Bhubaneswar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B41529-B6F0-9F67-F471-8061A8DF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7AA86-1D1E-11E9-3E52-C5E11A9920AD}"/>
              </a:ext>
            </a:extLst>
          </p:cNvPr>
          <p:cNvSpPr txBox="1"/>
          <p:nvPr/>
        </p:nvSpPr>
        <p:spPr>
          <a:xfrm>
            <a:off x="3592473" y="136633"/>
            <a:ext cx="50074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Content / Outlines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AB5AC-1FE7-FC5D-D009-2E7D71D7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F9E17760-5CD1-AD6D-2F46-F1934CBEFC69}"/>
              </a:ext>
            </a:extLst>
          </p:cNvPr>
          <p:cNvSpPr/>
          <p:nvPr/>
        </p:nvSpPr>
        <p:spPr>
          <a:xfrm>
            <a:off x="1347131" y="965313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Introduction and Motivation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CE1B1B83-A35E-1873-0BDC-1D05370D002C}"/>
              </a:ext>
            </a:extLst>
          </p:cNvPr>
          <p:cNvSpPr/>
          <p:nvPr/>
        </p:nvSpPr>
        <p:spPr>
          <a:xfrm>
            <a:off x="1347130" y="1716802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Literature Review and Literature Gap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4AE82E77-4989-615E-7D6B-DCA5FD6928E5}"/>
              </a:ext>
            </a:extLst>
          </p:cNvPr>
          <p:cNvSpPr/>
          <p:nvPr/>
        </p:nvSpPr>
        <p:spPr>
          <a:xfrm>
            <a:off x="1347131" y="2468292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Objectives and Methodology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2B0F020-93B4-9C94-9C0C-0200A4028164}"/>
              </a:ext>
            </a:extLst>
          </p:cNvPr>
          <p:cNvSpPr/>
          <p:nvPr/>
        </p:nvSpPr>
        <p:spPr>
          <a:xfrm>
            <a:off x="1347130" y="3219781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8C53113F-7AE8-5E74-3D38-D2CD4CB075AB}"/>
              </a:ext>
            </a:extLst>
          </p:cNvPr>
          <p:cNvSpPr/>
          <p:nvPr/>
        </p:nvSpPr>
        <p:spPr>
          <a:xfrm>
            <a:off x="1347130" y="3971271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Results and Discussions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E3A5723C-49F1-4DCF-27AC-015198BFACD5}"/>
              </a:ext>
            </a:extLst>
          </p:cNvPr>
          <p:cNvSpPr/>
          <p:nvPr/>
        </p:nvSpPr>
        <p:spPr>
          <a:xfrm>
            <a:off x="1341874" y="4722760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Conclusion and Future Scope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A2888975-CA65-7B4F-9E50-2977A60D3951}"/>
              </a:ext>
            </a:extLst>
          </p:cNvPr>
          <p:cNvSpPr/>
          <p:nvPr/>
        </p:nvSpPr>
        <p:spPr>
          <a:xfrm>
            <a:off x="1341874" y="5474249"/>
            <a:ext cx="9503951" cy="524104"/>
          </a:xfrm>
          <a:prstGeom prst="round2DiagRect">
            <a:avLst/>
          </a:prstGeom>
          <a:solidFill>
            <a:srgbClr val="BF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sis MT Pro"/>
              </a:rPr>
              <a:t>References</a:t>
            </a:r>
            <a:endParaRPr lang="en-US" dirty="0"/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20CB4B32-91D0-64AE-7DCE-710AF1413835}"/>
              </a:ext>
            </a:extLst>
          </p:cNvPr>
          <p:cNvSpPr/>
          <p:nvPr/>
        </p:nvSpPr>
        <p:spPr>
          <a:xfrm>
            <a:off x="11021689" y="1207097"/>
            <a:ext cx="673935" cy="101504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53CD1CE6-1FE6-197F-014D-92E1A747A5E7}"/>
              </a:ext>
            </a:extLst>
          </p:cNvPr>
          <p:cNvSpPr/>
          <p:nvPr/>
        </p:nvSpPr>
        <p:spPr>
          <a:xfrm>
            <a:off x="574406" y="1958585"/>
            <a:ext cx="673935" cy="101504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Left 13">
            <a:extLst>
              <a:ext uri="{FF2B5EF4-FFF2-40B4-BE49-F238E27FC236}">
                <a16:creationId xmlns:a16="http://schemas.microsoft.com/office/drawing/2014/main" id="{AE2A57B8-97F2-86D1-0FE3-6F0572AEE310}"/>
              </a:ext>
            </a:extLst>
          </p:cNvPr>
          <p:cNvSpPr/>
          <p:nvPr/>
        </p:nvSpPr>
        <p:spPr>
          <a:xfrm>
            <a:off x="574405" y="3461564"/>
            <a:ext cx="673935" cy="101504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Left 13">
            <a:extLst>
              <a:ext uri="{FF2B5EF4-FFF2-40B4-BE49-F238E27FC236}">
                <a16:creationId xmlns:a16="http://schemas.microsoft.com/office/drawing/2014/main" id="{5BA50D51-CB30-780E-6E57-31640A69D596}"/>
              </a:ext>
            </a:extLst>
          </p:cNvPr>
          <p:cNvSpPr/>
          <p:nvPr/>
        </p:nvSpPr>
        <p:spPr>
          <a:xfrm>
            <a:off x="574406" y="4964544"/>
            <a:ext cx="673935" cy="101504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E98C6C14-2736-A3D7-336B-C145E7AC408C}"/>
              </a:ext>
            </a:extLst>
          </p:cNvPr>
          <p:cNvSpPr/>
          <p:nvPr/>
        </p:nvSpPr>
        <p:spPr>
          <a:xfrm>
            <a:off x="11021688" y="2710076"/>
            <a:ext cx="673935" cy="101504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7E0664CA-1689-F013-A852-1744FA8F3513}"/>
              </a:ext>
            </a:extLst>
          </p:cNvPr>
          <p:cNvSpPr/>
          <p:nvPr/>
        </p:nvSpPr>
        <p:spPr>
          <a:xfrm>
            <a:off x="11021689" y="4228821"/>
            <a:ext cx="673935" cy="101504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CBC21956-2D77-5EE2-70C9-8581E29D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196344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219356" y="141888"/>
            <a:ext cx="57589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Introduction and Motivation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D796-4E57-71CC-9F0B-4CF08BA32122}"/>
              </a:ext>
            </a:extLst>
          </p:cNvPr>
          <p:cNvSpPr txBox="1"/>
          <p:nvPr/>
        </p:nvSpPr>
        <p:spPr>
          <a:xfrm>
            <a:off x="518684" y="1166648"/>
            <a:ext cx="590681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Unmanned Surface Vessels(USVs) are generally used in perimeter monitoring and surveillance tasks.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USVs can be navigated either through manual control or autonomously following a trajectory.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They come in various dimensions but usually less than 2 meters.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They are portable and can be easily navigated in narrow marinas.</a:t>
            </a:r>
          </a:p>
          <a:p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In the majority of applications, they are required to navigate along a pre-determined path.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May be required to perform some tasks autonomously.</a:t>
            </a:r>
          </a:p>
        </p:txBody>
      </p:sp>
      <p:pic>
        <p:nvPicPr>
          <p:cNvPr id="8" name="Picture 7" descr="A boat in the water&#10;&#10;Description automatically generated">
            <a:extLst>
              <a:ext uri="{FF2B5EF4-FFF2-40B4-BE49-F238E27FC236}">
                <a16:creationId xmlns:a16="http://schemas.microsoft.com/office/drawing/2014/main" id="{C1661653-8113-8A7F-D1D9-E2C4DF049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51" y="1578851"/>
            <a:ext cx="5051206" cy="3374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905EFE-5A2A-232F-5DE6-B28C8B731F93}"/>
              </a:ext>
            </a:extLst>
          </p:cNvPr>
          <p:cNvSpPr txBox="1"/>
          <p:nvPr/>
        </p:nvSpPr>
        <p:spPr>
          <a:xfrm>
            <a:off x="6775794" y="5232275"/>
            <a:ext cx="505622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latin typeface="Amasis MT Pro"/>
              </a:rPr>
              <a:t>Image credits: </a:t>
            </a:r>
            <a:r>
              <a:rPr lang="en-US" sz="800" dirty="0">
                <a:latin typeface="Amasis MT Pro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https://www.defenceprocurementinternational.com/features/maritime/are-unmanned-surface-vehicles-a-paradigm-shift-in-naval-warfare</a:t>
            </a:r>
            <a:endParaRPr lang="en-US" sz="800">
              <a:latin typeface="Amasis MT Pro"/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FF10B-E9C1-F858-CA5B-889995FD5840}"/>
              </a:ext>
            </a:extLst>
          </p:cNvPr>
          <p:cNvSpPr txBox="1"/>
          <p:nvPr/>
        </p:nvSpPr>
        <p:spPr>
          <a:xfrm>
            <a:off x="6775793" y="4959005"/>
            <a:ext cx="505622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Amasis MT Pro"/>
              </a:rPr>
              <a:t>Fig. 1</a:t>
            </a:r>
            <a:endParaRPr lang="en-US" sz="1200" dirty="0">
              <a:latin typeface="Amasis MT Pro"/>
              <a:ea typeface="+mn-lt"/>
              <a:cs typeface="+mn-lt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6699A8A-7260-5F8C-EFE2-75C93F74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46714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219356" y="141888"/>
            <a:ext cx="57589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Introduction and Motivation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D796-4E57-71CC-9F0B-4CF08BA32122}"/>
              </a:ext>
            </a:extLst>
          </p:cNvPr>
          <p:cNvSpPr txBox="1"/>
          <p:nvPr/>
        </p:nvSpPr>
        <p:spPr>
          <a:xfrm>
            <a:off x="308477" y="1024760"/>
            <a:ext cx="578594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An autonomous system necessitates the use of an obstacle detection system and requires excessive computation.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Computation can be performed either at the ground station or via an onboard computing device.</a:t>
            </a:r>
            <a:endParaRPr lang="en-US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Performing computation on the ground station and information transfer using telemetry limits the range of the USV.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For autonomous navigation, variety of sensors are used such as LiDAR, Sonar, Radar, Camera etc. 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compact size of the USVs constraints the power consumption and payload capacity which limits the use of sensors.</a:t>
            </a:r>
          </a:p>
        </p:txBody>
      </p:sp>
      <p:pic>
        <p:nvPicPr>
          <p:cNvPr id="8" name="Picture 7" descr="A black boat on water&#10;&#10;Description automatically generated">
            <a:extLst>
              <a:ext uri="{FF2B5EF4-FFF2-40B4-BE49-F238E27FC236}">
                <a16:creationId xmlns:a16="http://schemas.microsoft.com/office/drawing/2014/main" id="{30A0CD67-7AB4-EC39-E796-5ACDD20BB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105" y="1404938"/>
            <a:ext cx="4991100" cy="3743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9C107A-457C-875B-DBEA-D520D5063CFB}"/>
              </a:ext>
            </a:extLst>
          </p:cNvPr>
          <p:cNvSpPr txBox="1"/>
          <p:nvPr/>
        </p:nvSpPr>
        <p:spPr>
          <a:xfrm>
            <a:off x="6775793" y="5153446"/>
            <a:ext cx="505622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Amasis MT Pro"/>
              </a:rPr>
              <a:t>Fig. 2</a:t>
            </a:r>
            <a:endParaRPr lang="en-US" sz="1200" dirty="0">
              <a:latin typeface="Amasis MT Pro"/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FF3D7-BD8C-CB38-94E6-1D4383E8185D}"/>
              </a:ext>
            </a:extLst>
          </p:cNvPr>
          <p:cNvSpPr txBox="1"/>
          <p:nvPr/>
        </p:nvSpPr>
        <p:spPr>
          <a:xfrm>
            <a:off x="6791560" y="5426716"/>
            <a:ext cx="50194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latin typeface="Amasis MT Pro"/>
              </a:rPr>
              <a:t>Image credits: </a:t>
            </a:r>
            <a:r>
              <a:rPr lang="en-US" sz="8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https://defense.info/defense-systems/unmanned-surface-vehicles-in-support-of-the-sustainment-mission/</a:t>
            </a:r>
            <a:endParaRPr lang="en-US" sz="800">
              <a:latin typeface="Amasis MT Pro"/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8CFEF2A-2303-1E5E-7D87-02029D90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51135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219356" y="141888"/>
            <a:ext cx="57589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Introduction and Motivation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D796-4E57-71CC-9F0B-4CF08BA32122}"/>
              </a:ext>
            </a:extLst>
          </p:cNvPr>
          <p:cNvSpPr txBox="1"/>
          <p:nvPr/>
        </p:nvSpPr>
        <p:spPr>
          <a:xfrm>
            <a:off x="324243" y="1439918"/>
            <a:ext cx="5791199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USV needs situational awareness to identify obstructions.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General obstructions in USVs scenarios are other vessels, people (Scuba divers), objects such as trash and most importantly the shoreline or water-edge line.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In certain instances (particularly those beyond India), satellite provides seashore maps</a:t>
            </a:r>
            <a:r>
              <a:rPr lang="en-US" baseline="30000" dirty="0">
                <a:latin typeface="Amasis MT Pro"/>
                <a:ea typeface="+mn-lt"/>
                <a:cs typeface="+mn-lt"/>
              </a:rPr>
              <a:t>[3]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When combined with a GPS, enable the management of seashore obstacles.</a:t>
            </a:r>
            <a:endParaRPr lang="en-US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No publicly available datasets of USVs for Indian Scenarios</a:t>
            </a:r>
          </a:p>
        </p:txBody>
      </p:sp>
      <p:pic>
        <p:nvPicPr>
          <p:cNvPr id="4" name="Picture 3" descr="A boat docked at a dock&#10;&#10;Description automatically generated">
            <a:extLst>
              <a:ext uri="{FF2B5EF4-FFF2-40B4-BE49-F238E27FC236}">
                <a16:creationId xmlns:a16="http://schemas.microsoft.com/office/drawing/2014/main" id="{4B1AAEA0-8629-8630-C3C2-76508EA1F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712" y="3563006"/>
            <a:ext cx="3077139" cy="2375339"/>
          </a:xfrm>
          <a:prstGeom prst="rect">
            <a:avLst/>
          </a:prstGeom>
        </p:spPr>
      </p:pic>
      <p:pic>
        <p:nvPicPr>
          <p:cNvPr id="6" name="Picture 5" descr="A group of boats in a harbor&#10;&#10;Description automatically generated">
            <a:extLst>
              <a:ext uri="{FF2B5EF4-FFF2-40B4-BE49-F238E27FC236}">
                <a16:creationId xmlns:a16="http://schemas.microsoft.com/office/drawing/2014/main" id="{1DEB3AA5-7A70-DEE9-BB2C-DEFF8C5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70" y="940296"/>
            <a:ext cx="3179380" cy="2150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BF8385-E218-9DBF-DFEA-188275495E31}"/>
              </a:ext>
            </a:extLst>
          </p:cNvPr>
          <p:cNvSpPr txBox="1"/>
          <p:nvPr/>
        </p:nvSpPr>
        <p:spPr>
          <a:xfrm>
            <a:off x="6370819" y="3088318"/>
            <a:ext cx="317291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Fig-3a</a:t>
            </a:r>
            <a:endParaRPr lang="en-US" dirty="0">
              <a:latin typeface="Aptos" panose="020B0004020202020204"/>
            </a:endParaRPr>
          </a:p>
          <a:p>
            <a:r>
              <a:rPr lang="en-US" sz="800" dirty="0">
                <a:latin typeface="Amasis MT Pro"/>
              </a:rPr>
              <a:t>Image credits: </a:t>
            </a:r>
            <a:r>
              <a:rPr lang="en-US" sz="800" dirty="0">
                <a:ea typeface="+mn-lt"/>
                <a:cs typeface="+mn-lt"/>
                <a:hlinkClick r:id="rId4"/>
              </a:rPr>
              <a:t>https://danandholly.com/2021/01/indian-fishing-boats/</a:t>
            </a:r>
            <a:endParaRPr lang="en-US" sz="800" dirty="0">
              <a:latin typeface="Amasis MT Pro"/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FE0C6-A510-C22F-DFA2-7C047404BCFF}"/>
              </a:ext>
            </a:extLst>
          </p:cNvPr>
          <p:cNvSpPr txBox="1"/>
          <p:nvPr/>
        </p:nvSpPr>
        <p:spPr>
          <a:xfrm>
            <a:off x="8478142" y="5936620"/>
            <a:ext cx="317291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Fig-3b</a:t>
            </a:r>
          </a:p>
          <a:p>
            <a:pPr algn="ctr"/>
            <a:r>
              <a:rPr lang="en-US" sz="1000" dirty="0">
                <a:latin typeface="Amasis MT Pro"/>
              </a:rPr>
              <a:t>Image taken from MODS dataset[21]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9FCFE37-D5BD-DB57-7D97-AF8E0674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411799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2362763" y="141888"/>
            <a:ext cx="7466848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13716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Literature Review and Literature Gap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9DD9D-FEF8-83CD-8351-EAA9496B2655}"/>
              </a:ext>
            </a:extLst>
          </p:cNvPr>
          <p:cNvSpPr txBox="1"/>
          <p:nvPr/>
        </p:nvSpPr>
        <p:spPr>
          <a:xfrm>
            <a:off x="1024469" y="1080000"/>
            <a:ext cx="10140000" cy="286232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Obstacle detection was previously addressed in the field of Unmanned Ground Vehicles (UGVs).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research for it in USVs is still in the early stages.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Methods designed for UGVs cannot be easily applied to USVs for the following reasons: 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masis MT Pro"/>
              </a:rPr>
              <a:t>They depend on estimating the ground plane. Not applicable to the underwater environment of USVs.</a:t>
            </a:r>
          </a:p>
          <a:p>
            <a:pPr marL="742950" lvl="1" indent="-285750">
              <a:buFont typeface="Courier New"/>
              <a:buChar char="o"/>
            </a:pPr>
            <a:endParaRPr lang="en-US" dirty="0">
              <a:latin typeface="Amasis MT Pro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masis MT Pro"/>
              </a:rPr>
              <a:t>Maritime environment exhibit greater diversity as even a little submerged object pose a risk.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97134-4CF8-FF0E-3C90-FF700F0D19DC}"/>
              </a:ext>
            </a:extLst>
          </p:cNvPr>
          <p:cNvSpPr txBox="1"/>
          <p:nvPr/>
        </p:nvSpPr>
        <p:spPr>
          <a:xfrm>
            <a:off x="1024468" y="4096468"/>
            <a:ext cx="10140000" cy="147732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A lot of methods for detecting obstacles in marine environments is the use of range sensors like Radar, Sonar or LiDAR. Size and power restrictions.</a:t>
            </a: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Therefore, cameras combined with computer vision algorithms may be a promising alternative.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BA7C3A1-B2A4-694D-662F-F14B8A60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193769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2362763" y="141888"/>
            <a:ext cx="7466848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13716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Literature Review and Literature Gap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6CFD35-92B0-4F97-48BB-6FDAAE183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852631"/>
              </p:ext>
            </p:extLst>
          </p:nvPr>
        </p:nvGraphicFramePr>
        <p:xfrm>
          <a:off x="1061545" y="1056289"/>
          <a:ext cx="10064651" cy="35646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26771">
                  <a:extLst>
                    <a:ext uri="{9D8B030D-6E8A-4147-A177-3AD203B41FA5}">
                      <a16:colId xmlns:a16="http://schemas.microsoft.com/office/drawing/2014/main" val="1163647290"/>
                    </a:ext>
                  </a:extLst>
                </a:gridCol>
                <a:gridCol w="8137880">
                  <a:extLst>
                    <a:ext uri="{9D8B030D-6E8A-4147-A177-3AD203B41FA5}">
                      <a16:colId xmlns:a16="http://schemas.microsoft.com/office/drawing/2014/main" val="512134442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dirty="0">
                          <a:latin typeface="Amasis MT Pro"/>
                        </a:rPr>
                        <a:t>Authors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masis MT Pro"/>
                        </a:rPr>
                        <a:t>Contribution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9321621"/>
                  </a:ext>
                </a:extLst>
              </a:tr>
              <a:tr h="102857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masis MT Pro"/>
                        </a:rPr>
                        <a:t>Larson et al.</a:t>
                      </a:r>
                      <a:r>
                        <a:rPr lang="en-US" baseline="30000" dirty="0">
                          <a:latin typeface="Amasis MT Pro"/>
                        </a:rPr>
                        <a:t>[4]</a:t>
                      </a:r>
                      <a:r>
                        <a:rPr lang="en-US" dirty="0">
                          <a:latin typeface="Amasis MT Pro"/>
                        </a:rPr>
                        <a:t> (2007)</a:t>
                      </a:r>
                      <a:endParaRPr lang="en-US" baseline="30000" dirty="0">
                        <a:latin typeface="Amasis MT Pro"/>
                      </a:endParaRPr>
                    </a:p>
                    <a:p>
                      <a:pPr lvl="0" algn="l">
                        <a:buNone/>
                      </a:pPr>
                      <a:endParaRPr lang="en-US" dirty="0">
                        <a:latin typeface="Amasis MT Pro"/>
                      </a:endParaRP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Used a monocular camera and Estimated horizon using trigonometric calculations and nautical charts.</a:t>
                      </a:r>
                      <a:endParaRPr lang="en-US" dirty="0" err="1">
                        <a:latin typeface="Amasis MT Pr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0803615"/>
                  </a:ext>
                </a:extLst>
              </a:tr>
              <a:tr h="102857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masis MT Pro"/>
                        </a:rPr>
                        <a:t>Gal, O.</a:t>
                      </a:r>
                      <a:r>
                        <a:rPr lang="en-US" baseline="30000" dirty="0">
                          <a:latin typeface="Amasis MT Pro"/>
                        </a:rPr>
                        <a:t>[5]</a:t>
                      </a:r>
                      <a:r>
                        <a:rPr lang="en-US" dirty="0">
                          <a:latin typeface="Amasis MT Pro"/>
                        </a:rPr>
                        <a:t> (2011)</a:t>
                      </a:r>
                      <a:endParaRPr lang="en-US" baseline="30000" dirty="0">
                        <a:latin typeface="Amasis MT Pro"/>
                      </a:endParaRP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Used edge detection approach to detect the horizon line.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Assumed sea-edge as a straight line.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9863721"/>
                  </a:ext>
                </a:extLst>
              </a:tr>
              <a:tr h="102857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masis MT Pro"/>
                        </a:rPr>
                        <a:t>Wang et al.</a:t>
                      </a:r>
                      <a:r>
                        <a:rPr lang="en-US" baseline="30000" dirty="0">
                          <a:latin typeface="Amasis MT Pro"/>
                        </a:rPr>
                        <a:t>[6]</a:t>
                      </a:r>
                      <a:r>
                        <a:rPr lang="en-US" dirty="0">
                          <a:latin typeface="Amasis MT Pro"/>
                        </a:rPr>
                        <a:t> (2011)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Used pixel profile analysis and RANSAC regressor to estimate sea-sky line.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Created a real-time obstacle detection system for a monocular and stereo camera system based on saliency detection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31675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67FDBA-2356-3C7B-397C-8C0EE513722B}"/>
              </a:ext>
            </a:extLst>
          </p:cNvPr>
          <p:cNvSpPr txBox="1"/>
          <p:nvPr/>
        </p:nvSpPr>
        <p:spPr>
          <a:xfrm>
            <a:off x="1064859" y="4791154"/>
            <a:ext cx="100607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Most of these approaches approximate the edge of water by the horizon line.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In coastal scenarios, water-edge doesn't align with the horizon.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9325B-335E-C224-E458-5E0DEEBB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16375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2362763" y="141888"/>
            <a:ext cx="7466848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13716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Literature Review and Literature Gap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6CFD35-92B0-4F97-48BB-6FDAAE183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085991"/>
              </p:ext>
            </p:extLst>
          </p:nvPr>
        </p:nvGraphicFramePr>
        <p:xfrm>
          <a:off x="1066800" y="961696"/>
          <a:ext cx="10064651" cy="541333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26771">
                  <a:extLst>
                    <a:ext uri="{9D8B030D-6E8A-4147-A177-3AD203B41FA5}">
                      <a16:colId xmlns:a16="http://schemas.microsoft.com/office/drawing/2014/main" val="1163647290"/>
                    </a:ext>
                  </a:extLst>
                </a:gridCol>
                <a:gridCol w="8137880">
                  <a:extLst>
                    <a:ext uri="{9D8B030D-6E8A-4147-A177-3AD203B41FA5}">
                      <a16:colId xmlns:a16="http://schemas.microsoft.com/office/drawing/2014/main" val="512134442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dirty="0">
                          <a:latin typeface="Amasis MT Pro"/>
                        </a:rPr>
                        <a:t>Authors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masis MT Pro"/>
                        </a:rPr>
                        <a:t>Contribution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9321621"/>
                  </a:ext>
                </a:extLst>
              </a:tr>
              <a:tr h="1894114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masis MT Pro"/>
                        </a:rPr>
                        <a:t>Kristan et al.</a:t>
                      </a:r>
                      <a:r>
                        <a:rPr lang="en-US" baseline="30000" dirty="0">
                          <a:latin typeface="Amasis MT Pro"/>
                        </a:rPr>
                        <a:t>[7]</a:t>
                      </a:r>
                      <a:r>
                        <a:rPr lang="en-US" dirty="0">
                          <a:latin typeface="Amasis MT Pro"/>
                        </a:rPr>
                        <a:t> (2015)</a:t>
                      </a:r>
                    </a:p>
                    <a:p>
                      <a:pPr lvl="0" algn="l">
                        <a:buNone/>
                      </a:pPr>
                      <a:endParaRPr lang="en-US" dirty="0">
                        <a:latin typeface="Amasis MT Pro"/>
                      </a:endParaRP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Introduced a graphical model for monocular obstacle detection by constrained semantic segmentation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Partitions an image into three distinct and approximately parallel regions: sky, ground and water.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Does not presume a straight water edge and operates in real-time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Constructed the first large annotated dataset - MODD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0803615"/>
                  </a:ext>
                </a:extLst>
              </a:tr>
              <a:tr h="1382485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latin typeface="Amasis MT Pro"/>
                        </a:rPr>
                        <a:t>Bovcon</a:t>
                      </a:r>
                      <a:r>
                        <a:rPr lang="en-US" dirty="0">
                          <a:latin typeface="Amasis MT Pro"/>
                        </a:rPr>
                        <a:t> et al.</a:t>
                      </a:r>
                      <a:r>
                        <a:rPr lang="en-US" baseline="30000" dirty="0">
                          <a:latin typeface="Amasis MT Pro"/>
                        </a:rPr>
                        <a:t>[8, 9]</a:t>
                      </a:r>
                      <a:r>
                        <a:rPr lang="en-US" dirty="0">
                          <a:latin typeface="Amasis MT Pro"/>
                        </a:rPr>
                        <a:t> (2018, 2019)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Included sensor data like roll and pitch value from the Inertial Measurement Unit(IMU).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Improved the segmentation model by introducing stereo verification.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Constructed a new dataset with time-</a:t>
                      </a:r>
                      <a:r>
                        <a:rPr lang="en-US" dirty="0" err="1">
                          <a:latin typeface="Amasis MT Pro"/>
                        </a:rPr>
                        <a:t>synchronizatized</a:t>
                      </a:r>
                      <a:r>
                        <a:rPr lang="en-US" dirty="0">
                          <a:latin typeface="Amasis MT Pro"/>
                        </a:rPr>
                        <a:t> data streams – MODD2.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Proposed another dataset MaSTr1325 which was per-pixel semantically labelled and a data augmentation protocol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9863721"/>
                  </a:ext>
                </a:extLst>
              </a:tr>
              <a:tr h="102857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 err="1">
                          <a:latin typeface="Amasis MT Pro"/>
                        </a:rPr>
                        <a:t>Bovcon</a:t>
                      </a:r>
                      <a:r>
                        <a:rPr lang="en-US" dirty="0">
                          <a:latin typeface="Amasis MT Pro"/>
                        </a:rPr>
                        <a:t> et al.</a:t>
                      </a:r>
                      <a:r>
                        <a:rPr lang="en-US" baseline="30000" dirty="0">
                          <a:latin typeface="Amasis MT Pro"/>
                        </a:rPr>
                        <a:t>[10]</a:t>
                      </a:r>
                      <a:r>
                        <a:rPr lang="en-US" dirty="0">
                          <a:latin typeface="Amasis MT Pro"/>
                        </a:rPr>
                        <a:t> (2022)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Proposed a large unified dataset – MODS for obstacle detection and estimate depth maps.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24141506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8F7BE-C777-C45B-4B68-3FF9D4EB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1016206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2362763" y="141888"/>
            <a:ext cx="7466848" cy="73866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13716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Literature Review and Literature Gap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6CFD35-92B0-4F97-48BB-6FDAAE183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2766"/>
              </p:ext>
            </p:extLst>
          </p:nvPr>
        </p:nvGraphicFramePr>
        <p:xfrm>
          <a:off x="1066800" y="961696"/>
          <a:ext cx="10064651" cy="184752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26771">
                  <a:extLst>
                    <a:ext uri="{9D8B030D-6E8A-4147-A177-3AD203B41FA5}">
                      <a16:colId xmlns:a16="http://schemas.microsoft.com/office/drawing/2014/main" val="1163647290"/>
                    </a:ext>
                  </a:extLst>
                </a:gridCol>
                <a:gridCol w="8137880">
                  <a:extLst>
                    <a:ext uri="{9D8B030D-6E8A-4147-A177-3AD203B41FA5}">
                      <a16:colId xmlns:a16="http://schemas.microsoft.com/office/drawing/2014/main" val="512134442"/>
                    </a:ext>
                  </a:extLst>
                </a:gridCol>
              </a:tblGrid>
              <a:tr h="39579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200" dirty="0">
                          <a:latin typeface="Amasis MT Pro"/>
                        </a:rPr>
                        <a:t>Authors</a:t>
                      </a: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masis MT Pro"/>
                        </a:rPr>
                        <a:t>Contribution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9321621"/>
                  </a:ext>
                </a:extLst>
              </a:tr>
              <a:tr h="142080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masis MT Pro"/>
                        </a:rPr>
                        <a:t>Ahmed et al.</a:t>
                      </a:r>
                      <a:r>
                        <a:rPr lang="en-US" baseline="30000" dirty="0">
                          <a:latin typeface="Amasis MT Pro"/>
                        </a:rPr>
                        <a:t>[11]</a:t>
                      </a:r>
                      <a:r>
                        <a:rPr lang="en-US" dirty="0">
                          <a:latin typeface="Amasis MT Pro"/>
                        </a:rPr>
                        <a:t> (2023)</a:t>
                      </a:r>
                    </a:p>
                    <a:p>
                      <a:pPr lvl="0" algn="l">
                        <a:buNone/>
                      </a:pPr>
                      <a:endParaRPr lang="en-US" dirty="0">
                        <a:latin typeface="Amasis MT Pro"/>
                      </a:endParaRPr>
                    </a:p>
                  </a:txBody>
                  <a:tcPr anchor="ctr">
                    <a:lnR w="12700">
                      <a:solidFill>
                        <a:schemeClr val="tx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Used a generative adversarial network(GAN) model for image de-hazing and de-noising.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dirty="0">
                          <a:latin typeface="Amasis MT Pro"/>
                        </a:rPr>
                        <a:t>YOLOv5 based object detection system to detect objects from enhanced images.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08036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B8643B-7AAD-9429-47DF-DFDCFB84FECD}"/>
              </a:ext>
            </a:extLst>
          </p:cNvPr>
          <p:cNvSpPr txBox="1"/>
          <p:nvPr/>
        </p:nvSpPr>
        <p:spPr>
          <a:xfrm>
            <a:off x="1063364" y="3177964"/>
            <a:ext cx="1005890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Majority of approaches used are segmentation based and cannot give real time inference on Embedded GPUs.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Accuracy of the existing approaches will significantly vary when implemented in Indian Scenarios.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Deep learning-based object detectors have a significant potential for real-time obstacle detection.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There is no publicly available dataset for USVs that cater to Indian scenarios.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76669A0-6D3D-5255-20E7-B4713CA8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412048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Objectives and Methodology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3C97E-8BA2-0E82-8DB0-7F7A79F07133}"/>
              </a:ext>
            </a:extLst>
          </p:cNvPr>
          <p:cNvSpPr txBox="1"/>
          <p:nvPr/>
        </p:nvSpPr>
        <p:spPr>
          <a:xfrm>
            <a:off x="1063364" y="2084888"/>
            <a:ext cx="1005890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masis MT Pro"/>
              </a:rPr>
              <a:t>With this research, we plan to complete the following objectives:</a:t>
            </a:r>
          </a:p>
          <a:p>
            <a:pPr marL="342900" indent="-342900">
              <a:buAutoNum type="arabicPeriod"/>
            </a:pPr>
            <a:endParaRPr lang="en-US" dirty="0">
              <a:latin typeface="Amasis MT Pro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masis MT Pro"/>
              </a:rPr>
              <a:t>To explore and experiment existing obstacle detection approaches in Indian scenarios.</a:t>
            </a:r>
          </a:p>
          <a:p>
            <a:pPr marL="342900" indent="-342900">
              <a:buAutoNum type="arabicPeriod"/>
            </a:pPr>
            <a:endParaRPr lang="en-US" dirty="0">
              <a:latin typeface="Amasis MT Pro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masis MT Pro"/>
              </a:rPr>
              <a:t>To create an annotated dataset for Indian waters to boost the research in this field.</a:t>
            </a:r>
          </a:p>
          <a:p>
            <a:pPr marL="342900" indent="-342900">
              <a:buAutoNum type="arabicPeriod"/>
            </a:pPr>
            <a:endParaRPr lang="en-US" dirty="0">
              <a:latin typeface="Amasis MT Pro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masis MT Pro"/>
              </a:rPr>
              <a:t>To develop a robust obstacle detection system that can work on an Embedded GPU.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208EF-2EBC-0D37-7C86-F3C873AF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64706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Objectives and Methodology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3C97E-8BA2-0E82-8DB0-7F7A79F07133}"/>
              </a:ext>
            </a:extLst>
          </p:cNvPr>
          <p:cNvSpPr txBox="1"/>
          <p:nvPr/>
        </p:nvSpPr>
        <p:spPr>
          <a:xfrm>
            <a:off x="895198" y="891963"/>
            <a:ext cx="629620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masis MT Pro"/>
              </a:rPr>
              <a:t>Methodology to be followed: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Experimentation with a multi-modal approach for obstacle detection. Semantic segmentation for detecting the water-edge and an object detection model to detect obstacles.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Exploring multiple segmentation and object detection models to test their real-time performance.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Since the USV in under development, we plan to experiment on the MODS</a:t>
            </a:r>
            <a:r>
              <a:rPr lang="en-US" baseline="30000" dirty="0">
                <a:latin typeface="Amasis MT Pro"/>
              </a:rPr>
              <a:t>[10]</a:t>
            </a:r>
            <a:r>
              <a:rPr lang="en-US" dirty="0">
                <a:latin typeface="Amasis MT Pro"/>
              </a:rPr>
              <a:t> dataset.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Developing an IMU – camera calibration system and employing an Embedded GPU. Testing the USV on various water-bodies.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Construct a dataset with visual and sensor data, and experiment with the models created.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950B36-817C-8980-86BE-E9F0FFF90370}"/>
              </a:ext>
            </a:extLst>
          </p:cNvPr>
          <p:cNvGrpSpPr/>
          <p:nvPr/>
        </p:nvGrpSpPr>
        <p:grpSpPr>
          <a:xfrm>
            <a:off x="8263708" y="889438"/>
            <a:ext cx="2512073" cy="4649513"/>
            <a:chOff x="7795998" y="1078624"/>
            <a:chExt cx="2858914" cy="5106713"/>
          </a:xfrm>
        </p:grpSpPr>
        <p:pic>
          <p:nvPicPr>
            <p:cNvPr id="4" name="Picture 3" descr="A grey object with a square top&#10;&#10;Description automatically generated">
              <a:extLst>
                <a:ext uri="{FF2B5EF4-FFF2-40B4-BE49-F238E27FC236}">
                  <a16:creationId xmlns:a16="http://schemas.microsoft.com/office/drawing/2014/main" id="{16FBF4B2-B57E-5BAF-A1AC-A00B39EB8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95998" y="3852040"/>
              <a:ext cx="2858914" cy="2333297"/>
            </a:xfrm>
            <a:prstGeom prst="rect">
              <a:avLst/>
            </a:prstGeom>
          </p:spPr>
        </p:pic>
        <p:pic>
          <p:nvPicPr>
            <p:cNvPr id="6" name="Picture 5" descr="A drawing of a metal object&#10;&#10;Description automatically generated">
              <a:extLst>
                <a:ext uri="{FF2B5EF4-FFF2-40B4-BE49-F238E27FC236}">
                  <a16:creationId xmlns:a16="http://schemas.microsoft.com/office/drawing/2014/main" id="{F690F0B1-A9FF-4324-ADD3-500152D6B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7313" y="1078624"/>
              <a:ext cx="2853764" cy="277473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FB3691-0189-D47E-81FA-A5B86661F36D}"/>
              </a:ext>
            </a:extLst>
          </p:cNvPr>
          <p:cNvSpPr txBox="1"/>
          <p:nvPr/>
        </p:nvSpPr>
        <p:spPr>
          <a:xfrm>
            <a:off x="8269574" y="5608820"/>
            <a:ext cx="249836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4: CAD Model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A8BCB09F-9849-195E-5BC1-BCC54C84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236248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C6B9B6-96EA-49A3-3164-44BBF437A361}"/>
              </a:ext>
            </a:extLst>
          </p:cNvPr>
          <p:cNvGrpSpPr/>
          <p:nvPr/>
        </p:nvGrpSpPr>
        <p:grpSpPr>
          <a:xfrm>
            <a:off x="7765712" y="893378"/>
            <a:ext cx="3103416" cy="4892567"/>
            <a:chOff x="7329533" y="788276"/>
            <a:chExt cx="3539595" cy="5286704"/>
          </a:xfrm>
        </p:grpSpPr>
        <p:pic>
          <p:nvPicPr>
            <p:cNvPr id="4" name="Picture 3" descr="A boat on the water&#10;&#10;Description automatically generated">
              <a:extLst>
                <a:ext uri="{FF2B5EF4-FFF2-40B4-BE49-F238E27FC236}">
                  <a16:creationId xmlns:a16="http://schemas.microsoft.com/office/drawing/2014/main" id="{D9B01269-57B1-8B70-98BC-2362BA8A0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29533" y="788276"/>
              <a:ext cx="3539595" cy="2638097"/>
            </a:xfrm>
            <a:prstGeom prst="rect">
              <a:avLst/>
            </a:prstGeom>
          </p:spPr>
        </p:pic>
        <p:pic>
          <p:nvPicPr>
            <p:cNvPr id="6" name="Picture 5" descr="A white line in the sky&#10;&#10;Description automatically generated">
              <a:extLst>
                <a:ext uri="{FF2B5EF4-FFF2-40B4-BE49-F238E27FC236}">
                  <a16:creationId xmlns:a16="http://schemas.microsoft.com/office/drawing/2014/main" id="{F2044F66-0D97-AE89-49C8-1792A8C35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4787" y="3431627"/>
              <a:ext cx="3534341" cy="264335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707196" y="1841812"/>
            <a:ext cx="6677571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Dataset Modification</a:t>
            </a:r>
          </a:p>
          <a:p>
            <a:r>
              <a:rPr lang="en-US" b="1" dirty="0">
                <a:latin typeface="Amasis MT Pro"/>
              </a:rPr>
              <a:t>Segmentation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MODS dataset contained annotations in JSON format.</a:t>
            </a:r>
            <a:endParaRPr lang="en-US" dirty="0">
              <a:latin typeface="Aptos" panose="020B0004020202020204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dataset was modified for water-edge segmentation task and contains 8175 images.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Binary Masks of the images were created using OpenCV library.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images were resized to 640 x 640 pixels for training.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68D4C-1183-7ACF-F0A4-B3E98C8632D4}"/>
              </a:ext>
            </a:extLst>
          </p:cNvPr>
          <p:cNvSpPr txBox="1"/>
          <p:nvPr/>
        </p:nvSpPr>
        <p:spPr>
          <a:xfrm>
            <a:off x="7784374" y="5786463"/>
            <a:ext cx="306049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5: Image and its mask</a:t>
            </a:r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2C719C7-8753-A28E-D394-569E56DF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2934035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665154" y="1153385"/>
            <a:ext cx="4764688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Dataset Modification</a:t>
            </a:r>
          </a:p>
          <a:p>
            <a:r>
              <a:rPr lang="en-US" b="1" dirty="0">
                <a:latin typeface="Amasis MT Pro"/>
              </a:rPr>
              <a:t>Detection</a:t>
            </a:r>
          </a:p>
          <a:p>
            <a:endParaRPr lang="en-US" b="1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Bounding Boxes format was changed to midpoint format.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[</a:t>
            </a:r>
            <a:r>
              <a:rPr lang="en-US" dirty="0" err="1">
                <a:ea typeface="+mn-lt"/>
                <a:cs typeface="+mn-lt"/>
              </a:rPr>
              <a:t>topleftx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toplefty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bottomrightx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bottomrighty</a:t>
            </a:r>
            <a:r>
              <a:rPr lang="en-US" dirty="0">
                <a:ea typeface="+mn-lt"/>
                <a:cs typeface="+mn-lt"/>
              </a:rPr>
              <a:t>]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    to </a:t>
            </a:r>
          </a:p>
          <a:p>
            <a:r>
              <a:rPr lang="en-US" dirty="0">
                <a:ea typeface="+mn-lt"/>
                <a:cs typeface="+mn-lt"/>
              </a:rPr>
              <a:t>      [</a:t>
            </a:r>
            <a:r>
              <a:rPr lang="en-US" dirty="0" err="1">
                <a:ea typeface="+mn-lt"/>
                <a:cs typeface="+mn-lt"/>
              </a:rPr>
              <a:t>midpointx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midpointy</a:t>
            </a:r>
            <a:r>
              <a:rPr lang="en-US" dirty="0">
                <a:ea typeface="+mn-lt"/>
                <a:cs typeface="+mn-lt"/>
              </a:rPr>
              <a:t>, width, height] </a:t>
            </a:r>
            <a:endParaRPr lang="en-US"/>
          </a:p>
          <a:p>
            <a:endParaRPr lang="en-US">
              <a:latin typeface="Aptos" panose="020B00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coordinates were re-scaled between 0 and 1 using image dimension.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bounding boxes were then converted to TXT format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68D4C-1183-7ACF-F0A4-B3E98C8632D4}"/>
              </a:ext>
            </a:extLst>
          </p:cNvPr>
          <p:cNvSpPr txBox="1"/>
          <p:nvPr/>
        </p:nvSpPr>
        <p:spPr>
          <a:xfrm>
            <a:off x="7085436" y="4630325"/>
            <a:ext cx="306049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6: Examples with bounding boxes</a:t>
            </a:r>
            <a:endParaRPr lang="en-US" dirty="0" err="1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D2C719C7-8753-A28E-D394-569E56DF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pic>
        <p:nvPicPr>
          <p:cNvPr id="2" name="Picture 1" descr="A screenshot of a screenshot of a sea&#10;&#10;Description automatically generated">
            <a:extLst>
              <a:ext uri="{FF2B5EF4-FFF2-40B4-BE49-F238E27FC236}">
                <a16:creationId xmlns:a16="http://schemas.microsoft.com/office/drawing/2014/main" id="{F3138B58-E1A9-52F3-F2EE-47529ECA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" b="12310"/>
          <a:stretch/>
        </p:blipFill>
        <p:spPr>
          <a:xfrm>
            <a:off x="5538851" y="1502979"/>
            <a:ext cx="6148759" cy="30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5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0D60F-DC03-411B-4AF2-5D463986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544286" y="1011494"/>
            <a:ext cx="526393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Model Description</a:t>
            </a:r>
            <a:endParaRPr lang="en-US" dirty="0"/>
          </a:p>
          <a:p>
            <a:endParaRPr lang="en-US" b="1" dirty="0">
              <a:latin typeface="Amasis MT Pro Medium"/>
            </a:endParaRPr>
          </a:p>
          <a:p>
            <a:r>
              <a:rPr lang="en-US" b="1" dirty="0">
                <a:latin typeface="Amasis MT Pro Medium"/>
              </a:rPr>
              <a:t>Vanilla U-Net</a:t>
            </a:r>
            <a:endParaRPr lang="en-US" dirty="0"/>
          </a:p>
          <a:p>
            <a:endParaRPr lang="en-US" b="1" dirty="0">
              <a:latin typeface="Amasis MT Pro Medium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model used for the segmentation task is a modified U-Net Architecture</a:t>
            </a:r>
            <a:r>
              <a:rPr lang="en-US" baseline="30000" dirty="0">
                <a:latin typeface="Amasis MT Pro"/>
              </a:rPr>
              <a:t>[12]</a:t>
            </a:r>
            <a:r>
              <a:rPr lang="en-US" dirty="0">
                <a:latin typeface="Amasis MT Pro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An input size of 640 is used instead of 572.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Batch Normalization layers are included to prevent overfitting.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Model was created using the </a:t>
            </a:r>
            <a:r>
              <a:rPr lang="en-US" dirty="0" err="1">
                <a:latin typeface="Amasis MT Pro"/>
              </a:rPr>
              <a:t>PyTorch</a:t>
            </a:r>
            <a:r>
              <a:rPr lang="en-US" dirty="0">
                <a:latin typeface="Amasis MT Pro"/>
              </a:rPr>
              <a:t> library and Python Programming language.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final model contains 118,577,922 trainable parameters.</a:t>
            </a:r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305CE6FD-9099-FAB9-ED09-225EA084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41" y="1640045"/>
            <a:ext cx="5376042" cy="36094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223BFE-627A-B26E-88E8-353DE1F77208}"/>
              </a:ext>
            </a:extLst>
          </p:cNvPr>
          <p:cNvSpPr txBox="1"/>
          <p:nvPr/>
        </p:nvSpPr>
        <p:spPr>
          <a:xfrm>
            <a:off x="5996065" y="5346492"/>
            <a:ext cx="53589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7: U-Net Architecture</a:t>
            </a:r>
            <a:r>
              <a:rPr lang="en-US" sz="1000" baseline="30000" dirty="0">
                <a:latin typeface="Amasis MT Pro"/>
              </a:rPr>
              <a:t>[12]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060841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0D60F-DC03-411B-4AF2-5D463986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912148" y="885329"/>
            <a:ext cx="10361447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Model Description</a:t>
            </a:r>
            <a:endParaRPr lang="en-US" dirty="0"/>
          </a:p>
          <a:p>
            <a:endParaRPr lang="en-US" sz="2000" b="1" dirty="0">
              <a:latin typeface="Amasis MT Pro"/>
            </a:endParaRPr>
          </a:p>
          <a:p>
            <a:r>
              <a:rPr lang="en-US" b="1" dirty="0">
                <a:latin typeface="Amasis MT Pro Medium"/>
              </a:rPr>
              <a:t>Models with custom encoders</a:t>
            </a:r>
            <a:endParaRPr lang="en-US" dirty="0"/>
          </a:p>
          <a:p>
            <a:endParaRPr lang="en-US" b="1" dirty="0">
              <a:latin typeface="Amasis MT Pro Medium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All the models were created using Python, </a:t>
            </a:r>
            <a:r>
              <a:rPr lang="en-US" dirty="0" err="1">
                <a:latin typeface="Amasis MT Pro"/>
              </a:rPr>
              <a:t>Pytorch</a:t>
            </a:r>
            <a:r>
              <a:rPr lang="en-US" dirty="0">
                <a:latin typeface="Amasis MT Pro"/>
              </a:rPr>
              <a:t> framework, and Segmentation-Models-Pytorch library.</a:t>
            </a:r>
            <a:endParaRPr lang="en-US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List of models and their specifications are mentioned in Table-1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23BFE-627A-B26E-88E8-353DE1F77208}"/>
              </a:ext>
            </a:extLst>
          </p:cNvPr>
          <p:cNvSpPr txBox="1"/>
          <p:nvPr/>
        </p:nvSpPr>
        <p:spPr>
          <a:xfrm>
            <a:off x="3415775" y="5891564"/>
            <a:ext cx="53589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8: U-Net++ Architecture</a:t>
            </a:r>
            <a:endParaRPr lang="en-US" sz="1000" baseline="30000" dirty="0">
              <a:latin typeface="Amasis MT Pro"/>
            </a:endParaRPr>
          </a:p>
        </p:txBody>
      </p:sp>
      <p:pic>
        <p:nvPicPr>
          <p:cNvPr id="7" name="Picture 6" descr="A diagram of a flowchart&#10;&#10;Description automatically generated">
            <a:extLst>
              <a:ext uri="{FF2B5EF4-FFF2-40B4-BE49-F238E27FC236}">
                <a16:creationId xmlns:a16="http://schemas.microsoft.com/office/drawing/2014/main" id="{DF4826C7-0A75-F72F-F3D2-735A52388A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" b="16125"/>
          <a:stretch/>
        </p:blipFill>
        <p:spPr>
          <a:xfrm>
            <a:off x="2128345" y="3243195"/>
            <a:ext cx="7930055" cy="264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5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0D60F-DC03-411B-4AF2-5D463986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403BE2-9206-35CB-3856-1ECC61D42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71398"/>
              </p:ext>
            </p:extLst>
          </p:nvPr>
        </p:nvGraphicFramePr>
        <p:xfrm>
          <a:off x="2203302" y="1205023"/>
          <a:ext cx="7776944" cy="4480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44236">
                  <a:extLst>
                    <a:ext uri="{9D8B030D-6E8A-4147-A177-3AD203B41FA5}">
                      <a16:colId xmlns:a16="http://schemas.microsoft.com/office/drawing/2014/main" val="32993918"/>
                    </a:ext>
                  </a:extLst>
                </a:gridCol>
                <a:gridCol w="1944236">
                  <a:extLst>
                    <a:ext uri="{9D8B030D-6E8A-4147-A177-3AD203B41FA5}">
                      <a16:colId xmlns:a16="http://schemas.microsoft.com/office/drawing/2014/main" val="3924795280"/>
                    </a:ext>
                  </a:extLst>
                </a:gridCol>
                <a:gridCol w="1944236">
                  <a:extLst>
                    <a:ext uri="{9D8B030D-6E8A-4147-A177-3AD203B41FA5}">
                      <a16:colId xmlns:a16="http://schemas.microsoft.com/office/drawing/2014/main" val="2689476853"/>
                    </a:ext>
                  </a:extLst>
                </a:gridCol>
                <a:gridCol w="1944236">
                  <a:extLst>
                    <a:ext uri="{9D8B030D-6E8A-4147-A177-3AD203B41FA5}">
                      <a16:colId xmlns:a16="http://schemas.microsoft.com/office/drawing/2014/main" val="1148015575"/>
                    </a:ext>
                  </a:extLst>
                </a:gridCol>
              </a:tblGrid>
              <a:tr h="342604">
                <a:tc gridSpan="4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Table-1: Model </a:t>
                      </a:r>
                      <a:r>
                        <a:rPr lang="en-US" b="1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Specificaions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(Custom Encoder)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03453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Encoder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Decoder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Model Size(Million)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Model Tag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968506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U-Net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19.834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res-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12244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U-Net++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21.753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res-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unet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++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7196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ResNet18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PSPNet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11.329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pspnet-resnet18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37888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LinkNet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11.663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linknet-resnet18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94895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MANet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28.001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manet-resnet18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2126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MobileNetv2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U-Net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13.388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mobnet-unet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2294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EfficientNet-b2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U-Net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14.746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eff-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2476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EfficientNet-b4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PSPNet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17.614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pspnet-effnet-b4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3601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EfficientNet-b4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LinkNet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17.862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linknet-effnet-b4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671075"/>
                  </a:ext>
                </a:extLst>
              </a:tr>
              <a:tr h="342604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EfficientNet-b4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MANet</a:t>
                      </a:r>
                      <a:endParaRPr lang="en-US" dirty="0" err="1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31.276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manet-effnet-b4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3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130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0D60F-DC03-411B-4AF2-5D463986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8FA6A-C0FB-B99F-57FF-2F1F3F796E80}"/>
              </a:ext>
            </a:extLst>
          </p:cNvPr>
          <p:cNvSpPr txBox="1"/>
          <p:nvPr/>
        </p:nvSpPr>
        <p:spPr>
          <a:xfrm>
            <a:off x="402519" y="787029"/>
            <a:ext cx="1138355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Model Description</a:t>
            </a:r>
            <a:endParaRPr lang="en-US" dirty="0"/>
          </a:p>
          <a:p>
            <a:r>
              <a:rPr lang="en-US" b="1" dirty="0">
                <a:latin typeface="Amasis MT Pro Medium"/>
              </a:rPr>
              <a:t>Object Detection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Calibri"/>
                <a:cs typeface="Calibri"/>
              </a:rPr>
              <a:t>YOLOv8 and RT-DETR are trained for the object detection task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Calibri"/>
                <a:cs typeface="Calibri"/>
              </a:rPr>
              <a:t>Both models are State-of-the-art and perform well in real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6E67D-12D4-9CA8-8ECF-B7D140B1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" b="15690"/>
          <a:stretch/>
        </p:blipFill>
        <p:spPr>
          <a:xfrm>
            <a:off x="2017306" y="2689152"/>
            <a:ext cx="8169201" cy="31745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BBAB3A-15BE-82DB-2ABD-85EEBFF88060}"/>
              </a:ext>
            </a:extLst>
          </p:cNvPr>
          <p:cNvSpPr txBox="1"/>
          <p:nvPr/>
        </p:nvSpPr>
        <p:spPr>
          <a:xfrm>
            <a:off x="3420624" y="5866306"/>
            <a:ext cx="53589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latin typeface="Amasis MT Pro"/>
              </a:rPr>
              <a:t>Fig. 9: YOLOv1 Model Overview</a:t>
            </a:r>
            <a:endParaRPr lang="en-US" sz="1000" baseline="30000" dirty="0">
              <a:latin typeface="Amasis MT Pro"/>
            </a:endParaRPr>
          </a:p>
        </p:txBody>
      </p:sp>
    </p:spTree>
    <p:extLst>
      <p:ext uri="{BB962C8B-B14F-4D97-AF65-F5344CB8AC3E}">
        <p14:creationId xmlns:p14="http://schemas.microsoft.com/office/powerpoint/2010/main" val="3880213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520658" y="858810"/>
            <a:ext cx="5263930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Experimentation Details</a:t>
            </a:r>
            <a:endParaRPr lang="en-US" dirty="0"/>
          </a:p>
          <a:p>
            <a:endParaRPr lang="en-US" sz="2000" b="1" dirty="0">
              <a:latin typeface="Amasis MT Pro"/>
            </a:endParaRPr>
          </a:p>
          <a:p>
            <a:r>
              <a:rPr lang="en-US" b="1" dirty="0">
                <a:latin typeface="Amasis MT Pro"/>
              </a:rPr>
              <a:t>Vanilla U-Net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Model was trained for 4 hours and in total 25 Epochs.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Two NVIDIA T4 GPUs provided by </a:t>
            </a:r>
            <a:r>
              <a:rPr lang="en-US" dirty="0" err="1">
                <a:latin typeface="Amasis MT Pro"/>
              </a:rPr>
              <a:t>kaggle</a:t>
            </a:r>
            <a:r>
              <a:rPr lang="en-US" dirty="0">
                <a:latin typeface="Amasis MT Pro"/>
              </a:rPr>
              <a:t> are used parallelly.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loss-function used in Binary cross entropy with logits loss.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Optimizer used is the Adam Optimizer.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learning rate schedule can be seen in table-2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Data Augmentations were applied using the </a:t>
            </a:r>
            <a:r>
              <a:rPr lang="en-US" dirty="0" err="1">
                <a:latin typeface="Amasis MT Pro"/>
              </a:rPr>
              <a:t>albumentations</a:t>
            </a:r>
            <a:r>
              <a:rPr lang="en-US" dirty="0">
                <a:latin typeface="Amasis MT Pro"/>
              </a:rPr>
              <a:t> library.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D4B62C-5A3A-9345-B99E-4936F5F36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209451"/>
              </p:ext>
            </p:extLst>
          </p:nvPr>
        </p:nvGraphicFramePr>
        <p:xfrm>
          <a:off x="6166883" y="1890232"/>
          <a:ext cx="5191152" cy="30809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95576">
                  <a:extLst>
                    <a:ext uri="{9D8B030D-6E8A-4147-A177-3AD203B41FA5}">
                      <a16:colId xmlns:a16="http://schemas.microsoft.com/office/drawing/2014/main" val="1398722788"/>
                    </a:ext>
                  </a:extLst>
                </a:gridCol>
                <a:gridCol w="2595576">
                  <a:extLst>
                    <a:ext uri="{9D8B030D-6E8A-4147-A177-3AD203B41FA5}">
                      <a16:colId xmlns:a16="http://schemas.microsoft.com/office/drawing/2014/main" val="4175531592"/>
                    </a:ext>
                  </a:extLst>
                </a:gridCol>
              </a:tblGrid>
              <a:tr h="6161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Epoch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Learning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356614"/>
                  </a:ext>
                </a:extLst>
              </a:tr>
              <a:tr h="6161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1-10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971130"/>
                  </a:ext>
                </a:extLst>
              </a:tr>
              <a:tr h="6161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11-15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79156"/>
                  </a:ext>
                </a:extLst>
              </a:tr>
              <a:tr h="6161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16-20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495004"/>
                  </a:ext>
                </a:extLst>
              </a:tr>
              <a:tr h="6161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21-25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2124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EEC242-E389-FC55-1931-3F2CB18604EF}"/>
              </a:ext>
            </a:extLst>
          </p:cNvPr>
          <p:cNvSpPr txBox="1"/>
          <p:nvPr/>
        </p:nvSpPr>
        <p:spPr>
          <a:xfrm>
            <a:off x="6240646" y="5057285"/>
            <a:ext cx="50466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Table-2: Learning Rate Schedule for vanilla u-net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4B666DF-F45E-3753-7A45-F0D5AD7A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2052630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520658" y="858810"/>
            <a:ext cx="5263930" cy="5416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Experimentation Details</a:t>
            </a:r>
            <a:endParaRPr lang="en-US" dirty="0"/>
          </a:p>
          <a:p>
            <a:endParaRPr lang="en-US" sz="2000" b="1" dirty="0">
              <a:latin typeface="Amasis MT Pro"/>
            </a:endParaRPr>
          </a:p>
          <a:p>
            <a:r>
              <a:rPr lang="en-US" b="1" dirty="0">
                <a:latin typeface="Amasis MT Pro"/>
              </a:rPr>
              <a:t>Segmentation models with custom encoders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Training Setup - NVIDIA A10 GPU provided by the AI, Data Analytics and IoT Lab, SECS, IIT Bhubaneswar.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loss-function used is dice loss. It measures the overlap between predicted and ground truth.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Optimizer – Adam Optimizer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learning rate schedule can be seen in table-3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Data Augmentations were applied using the </a:t>
            </a:r>
            <a:r>
              <a:rPr lang="en-US" err="1">
                <a:latin typeface="Amasis MT Pro"/>
              </a:rPr>
              <a:t>albumentations</a:t>
            </a:r>
            <a:r>
              <a:rPr lang="en-US" dirty="0">
                <a:latin typeface="Amasis MT Pro"/>
              </a:rPr>
              <a:t> library.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One model was also trained for 30 Epochs to check convergence.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D4B62C-5A3A-9345-B99E-4936F5F36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175244"/>
              </p:ext>
            </p:extLst>
          </p:nvPr>
        </p:nvGraphicFramePr>
        <p:xfrm>
          <a:off x="7076558" y="1128232"/>
          <a:ext cx="4210590" cy="168058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05295">
                  <a:extLst>
                    <a:ext uri="{9D8B030D-6E8A-4147-A177-3AD203B41FA5}">
                      <a16:colId xmlns:a16="http://schemas.microsoft.com/office/drawing/2014/main" val="1398722788"/>
                    </a:ext>
                  </a:extLst>
                </a:gridCol>
                <a:gridCol w="2105295">
                  <a:extLst>
                    <a:ext uri="{9D8B030D-6E8A-4147-A177-3AD203B41FA5}">
                      <a16:colId xmlns:a16="http://schemas.microsoft.com/office/drawing/2014/main" val="4175531592"/>
                    </a:ext>
                  </a:extLst>
                </a:gridCol>
              </a:tblGrid>
              <a:tr h="420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Epoch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Learning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356614"/>
                  </a:ext>
                </a:extLst>
              </a:tr>
              <a:tr h="420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1-5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971130"/>
                  </a:ext>
                </a:extLst>
              </a:tr>
              <a:tr h="420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6-10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79156"/>
                  </a:ext>
                </a:extLst>
              </a:tr>
              <a:tr h="420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11-15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masis MT Pro"/>
                        </a:rPr>
                        <a:t>0.000001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495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EEC242-E389-FC55-1931-3F2CB18604EF}"/>
              </a:ext>
            </a:extLst>
          </p:cNvPr>
          <p:cNvSpPr txBox="1"/>
          <p:nvPr/>
        </p:nvSpPr>
        <p:spPr>
          <a:xfrm>
            <a:off x="6660041" y="2812634"/>
            <a:ext cx="50466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Table 3: Learning Rate Schedule for custom models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4B666DF-F45E-3753-7A45-F0D5AD7A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1B492-62BB-AA4B-D6EF-F4DBD26DC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023" y="3121820"/>
            <a:ext cx="4778745" cy="2534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ABFD11-A1FD-D9E0-15E5-577EA37F9105}"/>
              </a:ext>
            </a:extLst>
          </p:cNvPr>
          <p:cNvSpPr txBox="1"/>
          <p:nvPr/>
        </p:nvSpPr>
        <p:spPr>
          <a:xfrm>
            <a:off x="6801807" y="5665702"/>
            <a:ext cx="4769063" cy="3195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Fig. 10: Dice Coefficient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B1C51-68FE-9118-86E6-32E776C88229}"/>
              </a:ext>
            </a:extLst>
          </p:cNvPr>
          <p:cNvSpPr txBox="1"/>
          <p:nvPr/>
        </p:nvSpPr>
        <p:spPr>
          <a:xfrm>
            <a:off x="6791560" y="5964251"/>
            <a:ext cx="501944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latin typeface="Amasis MT Pro"/>
              </a:rPr>
              <a:t>Image credits: </a:t>
            </a:r>
            <a:r>
              <a:rPr lang="en-US" sz="800" dirty="0">
                <a:ea typeface="+mn-lt"/>
                <a:cs typeface="+mn-lt"/>
                <a:hlinkClick r:id="rId3"/>
              </a:rPr>
              <a:t>https://cvinvolution.medium.com/dice-loss-in-medical-image-segmentation-d0e476eb486</a:t>
            </a:r>
            <a:endParaRPr lang="en-US" sz="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8493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1332749" y="141888"/>
            <a:ext cx="9537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Experimentation Details and Model Description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0BA33-5BCE-EED7-8E00-9B05E54CED8D}"/>
              </a:ext>
            </a:extLst>
          </p:cNvPr>
          <p:cNvSpPr txBox="1"/>
          <p:nvPr/>
        </p:nvSpPr>
        <p:spPr>
          <a:xfrm>
            <a:off x="532473" y="787926"/>
            <a:ext cx="11135464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masis MT Pro"/>
              </a:rPr>
              <a:t>Experimentation Details</a:t>
            </a:r>
            <a:endParaRPr lang="en-US" dirty="0"/>
          </a:p>
          <a:p>
            <a:endParaRPr lang="en-US" sz="2000" b="1" dirty="0">
              <a:latin typeface="Amasis MT Pro"/>
            </a:endParaRPr>
          </a:p>
          <a:p>
            <a:r>
              <a:rPr lang="en-US" b="1" dirty="0">
                <a:latin typeface="Amasis MT Pro"/>
              </a:rPr>
              <a:t>Object Detection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Training Setup - NVIDIA A10 GPU provided by the AI, Data Analytics and IoT Lab, SECS, IIT Bhubaneswar.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masis MT Pro"/>
              </a:rPr>
              <a:t>IoU</a:t>
            </a:r>
            <a:r>
              <a:rPr lang="en-US" dirty="0">
                <a:latin typeface="Amasis MT Pro"/>
              </a:rPr>
              <a:t> Threshold = 0.7, learning rate = 0.01, optimizer = Adam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training details are mentioned in Table 4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4B666DF-F45E-3753-7A45-F0D5AD7A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1DDCD9-D81F-600A-2BF3-5319EF70C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550828"/>
              </p:ext>
            </p:extLst>
          </p:nvPr>
        </p:nvGraphicFramePr>
        <p:xfrm>
          <a:off x="3217678" y="3431599"/>
          <a:ext cx="5744984" cy="1676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36246">
                  <a:extLst>
                    <a:ext uri="{9D8B030D-6E8A-4147-A177-3AD203B41FA5}">
                      <a16:colId xmlns:a16="http://schemas.microsoft.com/office/drawing/2014/main" val="785929707"/>
                    </a:ext>
                  </a:extLst>
                </a:gridCol>
                <a:gridCol w="1436246">
                  <a:extLst>
                    <a:ext uri="{9D8B030D-6E8A-4147-A177-3AD203B41FA5}">
                      <a16:colId xmlns:a16="http://schemas.microsoft.com/office/drawing/2014/main" val="102809013"/>
                    </a:ext>
                  </a:extLst>
                </a:gridCol>
                <a:gridCol w="1436246">
                  <a:extLst>
                    <a:ext uri="{9D8B030D-6E8A-4147-A177-3AD203B41FA5}">
                      <a16:colId xmlns:a16="http://schemas.microsoft.com/office/drawing/2014/main" val="3788605087"/>
                    </a:ext>
                  </a:extLst>
                </a:gridCol>
                <a:gridCol w="1436246">
                  <a:extLst>
                    <a:ext uri="{9D8B030D-6E8A-4147-A177-3AD203B41FA5}">
                      <a16:colId xmlns:a16="http://schemas.microsoft.com/office/drawing/2014/main" val="1444489239"/>
                    </a:ext>
                  </a:extLst>
                </a:gridCol>
              </a:tblGrid>
              <a:tr h="13335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Table-4: Object Detection Training Details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29261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 Name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 Size(Million)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Training Epochs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Batch Size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9787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Yolov8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43.69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052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RT-DETR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32.97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79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417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030169" y="141888"/>
            <a:ext cx="6137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Discussions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7FD77-CD4A-8FA5-7CF0-86EF0090F0DE}"/>
              </a:ext>
            </a:extLst>
          </p:cNvPr>
          <p:cNvSpPr txBox="1"/>
          <p:nvPr/>
        </p:nvSpPr>
        <p:spPr>
          <a:xfrm>
            <a:off x="1340068" y="1711882"/>
            <a:ext cx="951186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Vanilla U-Net achieved a dice score of 0.68. </a:t>
            </a:r>
            <a:r>
              <a:rPr lang="en-US" dirty="0" err="1">
                <a:latin typeface="Amasis MT Pro"/>
              </a:rPr>
              <a:t>MANet</a:t>
            </a:r>
            <a:r>
              <a:rPr lang="en-US" dirty="0">
                <a:latin typeface="Amasis MT Pro"/>
              </a:rPr>
              <a:t> with EfficientNet-b4 backbone achieved a dice score of 0.66 with 3.8 times fewer parameters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Dice score &gt; 0.8, considered good.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Yolov8 achieved 0.698 AP50 and 0.3612 AP95.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masis MT Pro"/>
              </a:rPr>
              <a:t>RT-DETR achieved 0.6718 AP50 and 0.3753 AP95</a:t>
            </a: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AP scores are good</a:t>
            </a:r>
            <a:r>
              <a:rPr lang="en-US">
                <a:latin typeface="Amasis MT Pro"/>
              </a:rPr>
              <a:t> but the confusion matrix tells a different story.</a:t>
            </a: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results and loss curves can be seen in next slides.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2773A1D-60B4-7FEC-BC0F-8527617F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403993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025617" y="106230"/>
            <a:ext cx="6137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Discussions</a:t>
            </a:r>
            <a:endParaRPr lang="en-US" dirty="0" err="1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2773A1D-60B4-7FEC-BC0F-8527617F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pic>
        <p:nvPicPr>
          <p:cNvPr id="4" name="Picture 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A7D3073-3002-B9F8-2567-1E60B262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5" t="9027" r="8858" b="7924"/>
          <a:stretch/>
        </p:blipFill>
        <p:spPr>
          <a:xfrm>
            <a:off x="6550762" y="738420"/>
            <a:ext cx="4124952" cy="5282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28922C-8E3A-BDEC-9E31-DA063257AC21}"/>
              </a:ext>
            </a:extLst>
          </p:cNvPr>
          <p:cNvSpPr txBox="1"/>
          <p:nvPr/>
        </p:nvSpPr>
        <p:spPr>
          <a:xfrm>
            <a:off x="6807749" y="6016314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11b: Segmentation Loss Curve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BD1DEB-42E8-6B62-C71A-E478AB8D82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7" t="9267" r="7960" b="7926"/>
          <a:stretch/>
        </p:blipFill>
        <p:spPr>
          <a:xfrm>
            <a:off x="835823" y="735435"/>
            <a:ext cx="4305644" cy="5277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411236-86E1-E668-0F1C-CBD4313D2E07}"/>
              </a:ext>
            </a:extLst>
          </p:cNvPr>
          <p:cNvSpPr txBox="1"/>
          <p:nvPr/>
        </p:nvSpPr>
        <p:spPr>
          <a:xfrm>
            <a:off x="1298978" y="6023304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11a: Segmentation Dice Curve</a:t>
            </a:r>
          </a:p>
        </p:txBody>
      </p:sp>
    </p:spTree>
    <p:extLst>
      <p:ext uri="{BB962C8B-B14F-4D97-AF65-F5344CB8AC3E}">
        <p14:creationId xmlns:p14="http://schemas.microsoft.com/office/powerpoint/2010/main" val="2535932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</a:t>
            </a:r>
            <a:endParaRPr lang="en-US" dirty="0"/>
          </a:p>
        </p:txBody>
      </p:sp>
      <p:pic>
        <p:nvPicPr>
          <p:cNvPr id="4" name="Picture 3" descr="Several boats in the water&#10;&#10;Description automatically generated">
            <a:extLst>
              <a:ext uri="{FF2B5EF4-FFF2-40B4-BE49-F238E27FC236}">
                <a16:creationId xmlns:a16="http://schemas.microsoft.com/office/drawing/2014/main" id="{962DA3B8-22FA-4A67-79E9-FCE3412A9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8" y="1828800"/>
            <a:ext cx="3200400" cy="3210911"/>
          </a:xfrm>
          <a:prstGeom prst="rect">
            <a:avLst/>
          </a:prstGeom>
        </p:spPr>
      </p:pic>
      <p:pic>
        <p:nvPicPr>
          <p:cNvPr id="6" name="Picture 5" descr="A black square with white lines&#10;&#10;Description automatically generated">
            <a:extLst>
              <a:ext uri="{FF2B5EF4-FFF2-40B4-BE49-F238E27FC236}">
                <a16:creationId xmlns:a16="http://schemas.microsoft.com/office/drawing/2014/main" id="{C109DB09-C6DC-8921-35C6-247EEF0F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03" t="12005" r="19665" b="11595"/>
          <a:stretch/>
        </p:blipFill>
        <p:spPr>
          <a:xfrm>
            <a:off x="4496603" y="1818290"/>
            <a:ext cx="3193952" cy="3217276"/>
          </a:xfrm>
          <a:prstGeom prst="rect">
            <a:avLst/>
          </a:prstGeom>
        </p:spPr>
      </p:pic>
      <p:pic>
        <p:nvPicPr>
          <p:cNvPr id="7" name="Picture 6" descr="A black square with white lines&#10;&#10;Description automatically generated">
            <a:extLst>
              <a:ext uri="{FF2B5EF4-FFF2-40B4-BE49-F238E27FC236}">
                <a16:creationId xmlns:a16="http://schemas.microsoft.com/office/drawing/2014/main" id="{EF9020A1-B0E7-E39D-E959-B33DEE60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97" t="11988" r="19809" b="10480"/>
          <a:stretch/>
        </p:blipFill>
        <p:spPr>
          <a:xfrm>
            <a:off x="8508124" y="1828093"/>
            <a:ext cx="3213139" cy="3221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DD058-0DD0-1150-CD12-8955D2B6E67F}"/>
              </a:ext>
            </a:extLst>
          </p:cNvPr>
          <p:cNvSpPr txBox="1"/>
          <p:nvPr/>
        </p:nvSpPr>
        <p:spPr>
          <a:xfrm>
            <a:off x="499872" y="5096256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Input Image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13E8D-B677-3979-020B-21ACDFBF9922}"/>
              </a:ext>
            </a:extLst>
          </p:cNvPr>
          <p:cNvSpPr txBox="1"/>
          <p:nvPr/>
        </p:nvSpPr>
        <p:spPr>
          <a:xfrm>
            <a:off x="8571816" y="5096256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Predicted Mask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0316F-63DB-A644-48A6-DAA91398CA1D}"/>
              </a:ext>
            </a:extLst>
          </p:cNvPr>
          <p:cNvSpPr txBox="1"/>
          <p:nvPr/>
        </p:nvSpPr>
        <p:spPr>
          <a:xfrm>
            <a:off x="4525334" y="5096255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Ground Truth Mask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47BEC2-5CDD-9287-0B96-E77FA956A6A2}"/>
              </a:ext>
            </a:extLst>
          </p:cNvPr>
          <p:cNvSpPr txBox="1"/>
          <p:nvPr/>
        </p:nvSpPr>
        <p:spPr>
          <a:xfrm>
            <a:off x="4368168" y="5608733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12a: Segmentation Results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90A9AE87-05CE-41F7-0249-17A39DAA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4176061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DA3B8-22FA-4A67-79E9-FCE3412A9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8" y="1834055"/>
            <a:ext cx="3200400" cy="3200400"/>
          </a:xfrm>
          <a:prstGeom prst="rect">
            <a:avLst/>
          </a:prstGeom>
        </p:spPr>
      </p:pic>
      <p:pic>
        <p:nvPicPr>
          <p:cNvPr id="6" name="Picture 5" descr="A black square with white lines&#10;&#10;Description automatically generated">
            <a:extLst>
              <a:ext uri="{FF2B5EF4-FFF2-40B4-BE49-F238E27FC236}">
                <a16:creationId xmlns:a16="http://schemas.microsoft.com/office/drawing/2014/main" id="{C109DB09-C6DC-8921-35C6-247EEF0F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27" t="11881" r="19704" b="10891"/>
          <a:stretch/>
        </p:blipFill>
        <p:spPr>
          <a:xfrm>
            <a:off x="4491347" y="1823545"/>
            <a:ext cx="3209328" cy="3211780"/>
          </a:xfrm>
          <a:prstGeom prst="rect">
            <a:avLst/>
          </a:prstGeom>
        </p:spPr>
      </p:pic>
      <p:pic>
        <p:nvPicPr>
          <p:cNvPr id="7" name="Picture 6" descr="A black square with white lines&#10;&#10;Description automatically generated">
            <a:extLst>
              <a:ext uri="{FF2B5EF4-FFF2-40B4-BE49-F238E27FC236}">
                <a16:creationId xmlns:a16="http://schemas.microsoft.com/office/drawing/2014/main" id="{EF9020A1-B0E7-E39D-E959-B33DEE60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80" t="11937" r="19775" b="11017"/>
          <a:stretch/>
        </p:blipFill>
        <p:spPr>
          <a:xfrm>
            <a:off x="8518633" y="1833349"/>
            <a:ext cx="3200753" cy="3208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337948-2991-9AC2-5DD4-9B29E30E1DE2}"/>
              </a:ext>
            </a:extLst>
          </p:cNvPr>
          <p:cNvSpPr txBox="1"/>
          <p:nvPr/>
        </p:nvSpPr>
        <p:spPr>
          <a:xfrm>
            <a:off x="499872" y="5096256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Input Image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649E5-F9B4-8C33-58F1-CDCDE1A516A4}"/>
              </a:ext>
            </a:extLst>
          </p:cNvPr>
          <p:cNvSpPr txBox="1"/>
          <p:nvPr/>
        </p:nvSpPr>
        <p:spPr>
          <a:xfrm>
            <a:off x="8571816" y="5096256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Predicted Mask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84D34-A957-F682-1FD7-31873477F4A2}"/>
              </a:ext>
            </a:extLst>
          </p:cNvPr>
          <p:cNvSpPr txBox="1"/>
          <p:nvPr/>
        </p:nvSpPr>
        <p:spPr>
          <a:xfrm>
            <a:off x="4525334" y="5096255"/>
            <a:ext cx="31455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Amasis MT Pro"/>
              </a:rPr>
              <a:t>Ground Truth Mask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6A130-DFB0-5272-CA00-782E010D72DE}"/>
              </a:ext>
            </a:extLst>
          </p:cNvPr>
          <p:cNvSpPr txBox="1"/>
          <p:nvPr/>
        </p:nvSpPr>
        <p:spPr>
          <a:xfrm>
            <a:off x="4368168" y="5608733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12b: Segmentation Results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B8340EF-032B-0C99-1EF0-69B5D98A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767957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6A130-DFB0-5272-CA00-782E010D72DE}"/>
              </a:ext>
            </a:extLst>
          </p:cNvPr>
          <p:cNvSpPr txBox="1"/>
          <p:nvPr/>
        </p:nvSpPr>
        <p:spPr>
          <a:xfrm>
            <a:off x="4368168" y="5608733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13a: YOLOv8 Results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B8340EF-032B-0C99-1EF0-69B5D98A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C149C4-2A2A-B1EE-521C-3CC1B1BA5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4" y="1394527"/>
            <a:ext cx="7318744" cy="3668233"/>
          </a:xfrm>
          <a:prstGeom prst="rect">
            <a:avLst/>
          </a:prstGeom>
        </p:spPr>
      </p:pic>
      <p:pic>
        <p:nvPicPr>
          <p:cNvPr id="4" name="Picture 3" descr="A blue squares with black numbers&#10;&#10;Description automatically generated">
            <a:extLst>
              <a:ext uri="{FF2B5EF4-FFF2-40B4-BE49-F238E27FC236}">
                <a16:creationId xmlns:a16="http://schemas.microsoft.com/office/drawing/2014/main" id="{1AFD1A66-B57E-1226-9A57-950A9438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77" y="1531804"/>
            <a:ext cx="4559004" cy="33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0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172059" y="141888"/>
            <a:ext cx="5848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Results and Discussion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6A130-DFB0-5272-CA00-782E010D72DE}"/>
              </a:ext>
            </a:extLst>
          </p:cNvPr>
          <p:cNvSpPr txBox="1"/>
          <p:nvPr/>
        </p:nvSpPr>
        <p:spPr>
          <a:xfrm>
            <a:off x="4368168" y="5608733"/>
            <a:ext cx="34477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Amasis MT Pro"/>
              </a:rPr>
              <a:t>Fig. 13b: RT-DETR Results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B8340EF-032B-0C99-1EF0-69B5D98A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  <p:pic>
        <p:nvPicPr>
          <p:cNvPr id="4" name="Picture 3" descr="A group of graphs showing results&#10;&#10;Description automatically generated">
            <a:extLst>
              <a:ext uri="{FF2B5EF4-FFF2-40B4-BE49-F238E27FC236}">
                <a16:creationId xmlns:a16="http://schemas.microsoft.com/office/drawing/2014/main" id="{327E4C34-43FF-652A-C329-C6F84A88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4" y="1398957"/>
            <a:ext cx="7318744" cy="3659372"/>
          </a:xfrm>
          <a:prstGeom prst="rect">
            <a:avLst/>
          </a:prstGeom>
        </p:spPr>
      </p:pic>
      <p:pic>
        <p:nvPicPr>
          <p:cNvPr id="7" name="Picture 6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8EDCA386-0056-52B6-6D0A-18A75EF75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913" y="1531804"/>
            <a:ext cx="4525532" cy="33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8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030169" y="141888"/>
            <a:ext cx="6137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Conclusion and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629F4-7279-5487-7BE8-D83B55737909}"/>
              </a:ext>
            </a:extLst>
          </p:cNvPr>
          <p:cNvSpPr txBox="1"/>
          <p:nvPr/>
        </p:nvSpPr>
        <p:spPr>
          <a:xfrm>
            <a:off x="1529443" y="1442864"/>
            <a:ext cx="913311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The experimentation done with segmentation and detection models was successful.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  <a:ea typeface="+mn-lt"/>
                <a:cs typeface="+mn-lt"/>
              </a:rPr>
              <a:t>MA-Net with </a:t>
            </a:r>
            <a:r>
              <a:rPr lang="en-US" err="1">
                <a:latin typeface="Amasis MT Pro"/>
                <a:ea typeface="+mn-lt"/>
                <a:cs typeface="+mn-lt"/>
              </a:rPr>
              <a:t>EfficientNet</a:t>
            </a:r>
            <a:r>
              <a:rPr lang="en-US" dirty="0">
                <a:latin typeface="Amasis MT Pro"/>
                <a:ea typeface="+mn-lt"/>
                <a:cs typeface="+mn-lt"/>
              </a:rPr>
              <a:t> backbone performed the best in semantic segmentation given that the model size was only 31M parameters.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The data from the IMU can be used to create horizon masks, which can then be used as a feature.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ptos" panose="020B00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Sophisticated loss-functions can be used to increase water-obstacle separation.</a:t>
            </a:r>
            <a:endParaRPr lang="en-US" baseline="30000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YOLOv8 performed best in the detection task. However, it requires a lot of hyper-parameter tuning.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For further experimentation, models like SSD, FCOS, and YOLOX can be trained.</a:t>
            </a:r>
            <a:endParaRPr lang="en-US" dirty="0">
              <a:latin typeface="Amasis MT Pro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802A6A0-4BB9-6704-5654-B00C6745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401974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030169" y="141888"/>
            <a:ext cx="6137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Conclusion and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629F4-7279-5487-7BE8-D83B55737909}"/>
              </a:ext>
            </a:extLst>
          </p:cNvPr>
          <p:cNvSpPr txBox="1"/>
          <p:nvPr/>
        </p:nvSpPr>
        <p:spPr>
          <a:xfrm>
            <a:off x="1529443" y="1442864"/>
            <a:ext cx="913311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To check the real-time capabilities, models need to perform prediction on the embedded GPU.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depends heavily on the </a:t>
            </a:r>
            <a:r>
              <a:rPr lang="en-US" dirty="0" err="1">
                <a:latin typeface="Amasis MT Pro"/>
              </a:rPr>
              <a:t>quantisation</a:t>
            </a:r>
            <a:r>
              <a:rPr lang="en-US" dirty="0">
                <a:latin typeface="Amasis MT Pro"/>
              </a:rPr>
              <a:t> as well as the run-time used. For example – Nvidia </a:t>
            </a:r>
            <a:r>
              <a:rPr lang="en-US" dirty="0" err="1">
                <a:latin typeface="Amasis MT Pro"/>
              </a:rPr>
              <a:t>DeepStream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masis MT Pro"/>
              </a:rPr>
              <a:t>Experimentation can also be performed for a unified model as we can use all the computation power of the GPUs.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Amasis MT Pro"/>
              </a:rPr>
              <a:t>Construction of an Indian dataset is extremely necessary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Amasis MT Pro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0C809E6-FF5D-A409-8F26-323F22E8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29 November 2024, SMS, IIT Bhubaneswar</a:t>
            </a:r>
          </a:p>
        </p:txBody>
      </p:sp>
    </p:spTree>
    <p:extLst>
      <p:ext uri="{BB962C8B-B14F-4D97-AF65-F5344CB8AC3E}">
        <p14:creationId xmlns:p14="http://schemas.microsoft.com/office/powerpoint/2010/main" val="3815353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44272-191C-BF89-A55E-6CD715DA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8F1F-0635-02FB-641B-E30B05A7DA21}"/>
              </a:ext>
            </a:extLst>
          </p:cNvPr>
          <p:cNvSpPr txBox="1"/>
          <p:nvPr/>
        </p:nvSpPr>
        <p:spPr>
          <a:xfrm>
            <a:off x="3030169" y="-2"/>
            <a:ext cx="61372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latin typeface="Amasis MT Pro"/>
              </a:rPr>
              <a:t>References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087BD-6039-1C15-A1B6-A99732793356}"/>
              </a:ext>
            </a:extLst>
          </p:cNvPr>
          <p:cNvSpPr txBox="1"/>
          <p:nvPr/>
        </p:nvSpPr>
        <p:spPr>
          <a:xfrm>
            <a:off x="264260" y="559676"/>
            <a:ext cx="11671736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Amasis MT Pro"/>
              </a:rPr>
              <a:t>Title slide image Credits: </a:t>
            </a:r>
            <a:r>
              <a:rPr lang="en-US" dirty="0">
                <a:latin typeface="Amasis MT Pro"/>
                <a:ea typeface="+mn-lt"/>
                <a:cs typeface="+mn-lt"/>
                <a:hlinkClick r:id="rId2"/>
              </a:rPr>
              <a:t>https://www.oglemodels.com/case-studies/unmanned-surface-vessel/</a:t>
            </a:r>
            <a:endParaRPr lang="en-US">
              <a:latin typeface="Amasis MT Pro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masis MT Pro"/>
                <a:ea typeface="+mn-lt"/>
                <a:cs typeface="+mn-lt"/>
              </a:rPr>
              <a:t>Title slide image Credits: </a:t>
            </a:r>
            <a:r>
              <a:rPr lang="en-US" dirty="0">
                <a:latin typeface="Amasis MT Pro"/>
                <a:ea typeface="+mn-lt"/>
                <a:cs typeface="+mn-lt"/>
                <a:hlinkClick r:id="rId3"/>
              </a:rPr>
              <a:t>https://www.unmannedsystemstechnology.com/expo/autonomous-surface-vehicles-asv/</a:t>
            </a:r>
            <a:endParaRPr lang="en-US">
              <a:latin typeface="Amasis MT Pro"/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 err="1">
                <a:latin typeface="Amasis MT Pro"/>
                <a:ea typeface="+mn-lt"/>
                <a:cs typeface="+mn-lt"/>
              </a:rPr>
              <a:t>Heidarsson</a:t>
            </a:r>
            <a:r>
              <a:rPr lang="en-US" dirty="0">
                <a:latin typeface="Amasis MT Pro"/>
                <a:ea typeface="+mn-lt"/>
                <a:cs typeface="+mn-lt"/>
              </a:rPr>
              <a:t> et al. (2011). Obstacle detection from overhead imagery using self-supervised learning for Autonomous Surface Vehicles. IEEE International Conference on Intelligent Robots and Systems. 3160-3165. 10.1109/IROS.2011.6048233.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Larson et al. (2007). Advances in Autonomous Obstacle Avoidance for Unmanned Surface Vehicles.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Gal, O. (2011). Automatic Obstacle Detection for USV’s Navigation Using Vision Sensors. In </a:t>
            </a:r>
            <a:r>
              <a:rPr lang="en-US" dirty="0" err="1">
                <a:ea typeface="+mn-lt"/>
                <a:cs typeface="+mn-lt"/>
              </a:rPr>
              <a:t>A.Schlaefer</a:t>
            </a:r>
            <a:r>
              <a:rPr lang="en-US" dirty="0">
                <a:ea typeface="+mn-lt"/>
                <a:cs typeface="+mn-lt"/>
              </a:rPr>
              <a:t> &amp; O. Blaurock (Eds.), Robotic Sailing (pp. 127–140). Springer Berlin Heidelberg.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Wang et al. (2011). Real-time obstacle detection for Unmanned Surface Vehicle. 2011 Defense Science Research Conference and Expo (DSR)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Kristan et al. (2015). Fast image-based obstacle detection from unmanned surface vehicles. </a:t>
            </a:r>
          </a:p>
          <a:p>
            <a:pPr marL="342900" indent="-342900">
              <a:buAutoNum type="arabicPeriod"/>
            </a:pPr>
            <a:r>
              <a:rPr lang="en-US" dirty="0" err="1">
                <a:ea typeface="+mn-lt"/>
                <a:cs typeface="+mn-lt"/>
              </a:rPr>
              <a:t>Bovcon</a:t>
            </a:r>
            <a:r>
              <a:rPr lang="en-US" dirty="0">
                <a:ea typeface="+mn-lt"/>
                <a:cs typeface="+mn-lt"/>
              </a:rPr>
              <a:t> et al. (2018). Stereo obstacle detection for unmanned surface vehicles by IMU-assisted semantic segmentation. Robotics and Autonomous Systems, 104, 1–13.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>
                <a:latin typeface="Aptos"/>
                <a:ea typeface="+mn-lt"/>
                <a:cs typeface="+mn-lt"/>
              </a:rPr>
              <a:t>Bovcon</a:t>
            </a:r>
            <a:r>
              <a:rPr lang="en-US" dirty="0">
                <a:latin typeface="Aptos"/>
                <a:ea typeface="+mn-lt"/>
                <a:cs typeface="+mn-lt"/>
              </a:rPr>
              <a:t> et al (2019). The MaSTr1325 dataset for training deep USV obstacle detection models. 2019 IEEE/RSJ International Conference on Intelligent Robots and Systems (IROS), 3431–3438.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 err="1">
                <a:ea typeface="+mn-lt"/>
                <a:cs typeface="+mn-lt"/>
              </a:rPr>
              <a:t>Bovcon</a:t>
            </a:r>
            <a:r>
              <a:rPr lang="en-US" dirty="0">
                <a:ea typeface="+mn-lt"/>
                <a:cs typeface="+mn-lt"/>
              </a:rPr>
              <a:t> et al. (2022). MODS—A USV-Oriented Object Detection and Obstacle Segmentation Benchmark. IEEE Transactions on Intelligent Transportation Systems, 23(8),13403–13418.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Ahmed et al. (2023). Vision-Based Autonomous Navigation for Unmanned Surface Vessel in Extreme Marine Conditions.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Olaf </a:t>
            </a:r>
            <a:r>
              <a:rPr lang="en-US" dirty="0" err="1">
                <a:ea typeface="+mn-lt"/>
                <a:cs typeface="+mn-lt"/>
              </a:rPr>
              <a:t>Ronneberger</a:t>
            </a:r>
            <a:r>
              <a:rPr lang="en-US" dirty="0">
                <a:ea typeface="+mn-lt"/>
                <a:cs typeface="+mn-lt"/>
              </a:rPr>
              <a:t>, Philipp Fischer, Thomas Brox. "U-Net: Convolutional Networks for Biomedical Image Segmentation." (2015).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038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7C1CF-7D13-B804-5C92-AA02DDDF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78A94-7C75-AA78-1AEE-60F5147A5EE1}"/>
              </a:ext>
            </a:extLst>
          </p:cNvPr>
          <p:cNvSpPr txBox="1"/>
          <p:nvPr/>
        </p:nvSpPr>
        <p:spPr>
          <a:xfrm>
            <a:off x="3048759" y="2715515"/>
            <a:ext cx="6066418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600" dirty="0">
                <a:latin typeface="Amasis MT Pro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522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2156</cp:revision>
  <dcterms:created xsi:type="dcterms:W3CDTF">2024-09-20T14:08:38Z</dcterms:created>
  <dcterms:modified xsi:type="dcterms:W3CDTF">2024-11-29T03:46:17Z</dcterms:modified>
</cp:coreProperties>
</file>